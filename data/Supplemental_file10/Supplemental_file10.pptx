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8" r:id="rId3"/>
    <p:sldId id="257" r:id="rId4"/>
    <p:sldId id="259" r:id="rId5"/>
    <p:sldId id="260" r:id="rId6"/>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98" d="100"/>
          <a:sy n="98" d="100"/>
        </p:scale>
        <p:origin x="72" y="15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6CFCD9-FCD8-4112-8F17-228F793EDA02}" type="datetimeFigureOut">
              <a:rPr lang="en-SE" smtClean="0"/>
              <a:t>2025-05-23</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762A34-8902-4CF6-98C6-405757E46AD6}" type="slidenum">
              <a:rPr lang="en-SE" smtClean="0"/>
              <a:t>‹#›</a:t>
            </a:fld>
            <a:endParaRPr lang="en-SE"/>
          </a:p>
        </p:txBody>
      </p:sp>
    </p:spTree>
    <p:extLst>
      <p:ext uri="{BB962C8B-B14F-4D97-AF65-F5344CB8AC3E}">
        <p14:creationId xmlns:p14="http://schemas.microsoft.com/office/powerpoint/2010/main" val="496149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76762A34-8902-4CF6-98C6-405757E46AD6}" type="slidenum">
              <a:rPr lang="en-SE" smtClean="0"/>
              <a:t>1</a:t>
            </a:fld>
            <a:endParaRPr lang="en-SE"/>
          </a:p>
        </p:txBody>
      </p:sp>
    </p:spTree>
    <p:extLst>
      <p:ext uri="{BB962C8B-B14F-4D97-AF65-F5344CB8AC3E}">
        <p14:creationId xmlns:p14="http://schemas.microsoft.com/office/powerpoint/2010/main" val="3227375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76762A34-8902-4CF6-98C6-405757E46AD6}" type="slidenum">
              <a:rPr lang="en-SE" smtClean="0"/>
              <a:t>3</a:t>
            </a:fld>
            <a:endParaRPr lang="en-SE"/>
          </a:p>
        </p:txBody>
      </p:sp>
    </p:spTree>
    <p:extLst>
      <p:ext uri="{BB962C8B-B14F-4D97-AF65-F5344CB8AC3E}">
        <p14:creationId xmlns:p14="http://schemas.microsoft.com/office/powerpoint/2010/main" val="900847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565C1-B748-A2B6-AAD7-FF073F24F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96B47-3790-8D3C-6F0C-BA23CCB146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CCB760-2E32-DE82-5297-E2CF10CB115A}"/>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2581A18F-B137-147E-118A-5021081284F9}"/>
              </a:ext>
            </a:extLst>
          </p:cNvPr>
          <p:cNvSpPr>
            <a:spLocks noGrp="1"/>
          </p:cNvSpPr>
          <p:nvPr>
            <p:ph type="sldNum" sz="quarter" idx="5"/>
          </p:nvPr>
        </p:nvSpPr>
        <p:spPr/>
        <p:txBody>
          <a:bodyPr/>
          <a:lstStyle/>
          <a:p>
            <a:fld id="{76762A34-8902-4CF6-98C6-405757E46AD6}" type="slidenum">
              <a:rPr lang="en-SE" smtClean="0"/>
              <a:t>4</a:t>
            </a:fld>
            <a:endParaRPr lang="en-SE"/>
          </a:p>
        </p:txBody>
      </p:sp>
    </p:spTree>
    <p:extLst>
      <p:ext uri="{BB962C8B-B14F-4D97-AF65-F5344CB8AC3E}">
        <p14:creationId xmlns:p14="http://schemas.microsoft.com/office/powerpoint/2010/main" val="1941294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7793B-DA7A-CFA6-5796-D8B8756BB9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E"/>
          </a:p>
        </p:txBody>
      </p:sp>
      <p:sp>
        <p:nvSpPr>
          <p:cNvPr id="3" name="Subtitle 2">
            <a:extLst>
              <a:ext uri="{FF2B5EF4-FFF2-40B4-BE49-F238E27FC236}">
                <a16:creationId xmlns:a16="http://schemas.microsoft.com/office/drawing/2014/main" id="{6FCB9FA9-FFAE-C39C-AD9A-EF9871F263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E"/>
          </a:p>
        </p:txBody>
      </p:sp>
      <p:sp>
        <p:nvSpPr>
          <p:cNvPr id="4" name="Date Placeholder 3">
            <a:extLst>
              <a:ext uri="{FF2B5EF4-FFF2-40B4-BE49-F238E27FC236}">
                <a16:creationId xmlns:a16="http://schemas.microsoft.com/office/drawing/2014/main" id="{5C93C2F4-A6AF-FA33-8F4B-9B6040377DE1}"/>
              </a:ext>
            </a:extLst>
          </p:cNvPr>
          <p:cNvSpPr>
            <a:spLocks noGrp="1"/>
          </p:cNvSpPr>
          <p:nvPr>
            <p:ph type="dt" sz="half" idx="10"/>
          </p:nvPr>
        </p:nvSpPr>
        <p:spPr/>
        <p:txBody>
          <a:bodyPr/>
          <a:lstStyle/>
          <a:p>
            <a:fld id="{79E73479-2AE1-4BA1-AEDB-E368E4EA3836}" type="datetimeFigureOut">
              <a:rPr lang="en-SE" smtClean="0"/>
              <a:t>2025-05-23</a:t>
            </a:fld>
            <a:endParaRPr lang="en-SE"/>
          </a:p>
        </p:txBody>
      </p:sp>
      <p:sp>
        <p:nvSpPr>
          <p:cNvPr id="5" name="Footer Placeholder 4">
            <a:extLst>
              <a:ext uri="{FF2B5EF4-FFF2-40B4-BE49-F238E27FC236}">
                <a16:creationId xmlns:a16="http://schemas.microsoft.com/office/drawing/2014/main" id="{C33F33A5-7A82-995B-785F-BEA8FFEB530B}"/>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D964897D-2AA4-F074-0A00-A649887FE39C}"/>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3695014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F6A6D-0099-B4F0-38EE-379183565B16}"/>
              </a:ext>
            </a:extLst>
          </p:cNvPr>
          <p:cNvSpPr>
            <a:spLocks noGrp="1"/>
          </p:cNvSpPr>
          <p:nvPr>
            <p:ph type="title"/>
          </p:nvPr>
        </p:nvSpPr>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219C2751-C186-25FB-4A85-EAE476B44F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0C62C209-E0C4-8CD1-A0AB-53BC2DD16606}"/>
              </a:ext>
            </a:extLst>
          </p:cNvPr>
          <p:cNvSpPr>
            <a:spLocks noGrp="1"/>
          </p:cNvSpPr>
          <p:nvPr>
            <p:ph type="dt" sz="half" idx="10"/>
          </p:nvPr>
        </p:nvSpPr>
        <p:spPr/>
        <p:txBody>
          <a:bodyPr/>
          <a:lstStyle/>
          <a:p>
            <a:fld id="{79E73479-2AE1-4BA1-AEDB-E368E4EA3836}" type="datetimeFigureOut">
              <a:rPr lang="en-SE" smtClean="0"/>
              <a:t>2025-05-23</a:t>
            </a:fld>
            <a:endParaRPr lang="en-SE"/>
          </a:p>
        </p:txBody>
      </p:sp>
      <p:sp>
        <p:nvSpPr>
          <p:cNvPr id="5" name="Footer Placeholder 4">
            <a:extLst>
              <a:ext uri="{FF2B5EF4-FFF2-40B4-BE49-F238E27FC236}">
                <a16:creationId xmlns:a16="http://schemas.microsoft.com/office/drawing/2014/main" id="{30332345-5CC2-22E8-E5B7-DA9530E56808}"/>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79C4C762-A627-5D3E-B580-AC0618E6896E}"/>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292631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0B455-73A7-7B2C-407B-1D01056080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E"/>
          </a:p>
        </p:txBody>
      </p:sp>
      <p:sp>
        <p:nvSpPr>
          <p:cNvPr id="3" name="Text Placeholder 2">
            <a:extLst>
              <a:ext uri="{FF2B5EF4-FFF2-40B4-BE49-F238E27FC236}">
                <a16:creationId xmlns:a16="http://schemas.microsoft.com/office/drawing/2014/main" id="{11478C9F-E6FF-93BF-91C3-EAA35645D2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5B0F5E-9438-58E5-B9DA-DD721B45E69B}"/>
              </a:ext>
            </a:extLst>
          </p:cNvPr>
          <p:cNvSpPr>
            <a:spLocks noGrp="1"/>
          </p:cNvSpPr>
          <p:nvPr>
            <p:ph type="dt" sz="half" idx="10"/>
          </p:nvPr>
        </p:nvSpPr>
        <p:spPr/>
        <p:txBody>
          <a:bodyPr/>
          <a:lstStyle/>
          <a:p>
            <a:fld id="{79E73479-2AE1-4BA1-AEDB-E368E4EA3836}" type="datetimeFigureOut">
              <a:rPr lang="en-SE" smtClean="0"/>
              <a:t>2025-05-23</a:t>
            </a:fld>
            <a:endParaRPr lang="en-SE"/>
          </a:p>
        </p:txBody>
      </p:sp>
      <p:sp>
        <p:nvSpPr>
          <p:cNvPr id="5" name="Footer Placeholder 4">
            <a:extLst>
              <a:ext uri="{FF2B5EF4-FFF2-40B4-BE49-F238E27FC236}">
                <a16:creationId xmlns:a16="http://schemas.microsoft.com/office/drawing/2014/main" id="{D223EAB9-5141-2A46-190A-8820ED283968}"/>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DF5000DD-D454-9CEF-1077-9EB846EF07EF}"/>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3143780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F8064-978A-A3D9-F8B3-65C868D899E8}"/>
              </a:ext>
            </a:extLst>
          </p:cNvPr>
          <p:cNvSpPr>
            <a:spLocks noGrp="1"/>
          </p:cNvSpPr>
          <p:nvPr>
            <p:ph type="title"/>
          </p:nvPr>
        </p:nvSpPr>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31FC8AFA-1377-444F-4A0D-F64B9C0E0D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Content Placeholder 3">
            <a:extLst>
              <a:ext uri="{FF2B5EF4-FFF2-40B4-BE49-F238E27FC236}">
                <a16:creationId xmlns:a16="http://schemas.microsoft.com/office/drawing/2014/main" id="{373C1F9F-FD86-1D3A-181B-36C0948805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5" name="Date Placeholder 4">
            <a:extLst>
              <a:ext uri="{FF2B5EF4-FFF2-40B4-BE49-F238E27FC236}">
                <a16:creationId xmlns:a16="http://schemas.microsoft.com/office/drawing/2014/main" id="{0207D457-B322-D30E-01BC-1290115E05B6}"/>
              </a:ext>
            </a:extLst>
          </p:cNvPr>
          <p:cNvSpPr>
            <a:spLocks noGrp="1"/>
          </p:cNvSpPr>
          <p:nvPr>
            <p:ph type="dt" sz="half" idx="10"/>
          </p:nvPr>
        </p:nvSpPr>
        <p:spPr/>
        <p:txBody>
          <a:bodyPr/>
          <a:lstStyle/>
          <a:p>
            <a:fld id="{79E73479-2AE1-4BA1-AEDB-E368E4EA3836}" type="datetimeFigureOut">
              <a:rPr lang="en-SE" smtClean="0"/>
              <a:t>2025-05-23</a:t>
            </a:fld>
            <a:endParaRPr lang="en-SE"/>
          </a:p>
        </p:txBody>
      </p:sp>
      <p:sp>
        <p:nvSpPr>
          <p:cNvPr id="6" name="Footer Placeholder 5">
            <a:extLst>
              <a:ext uri="{FF2B5EF4-FFF2-40B4-BE49-F238E27FC236}">
                <a16:creationId xmlns:a16="http://schemas.microsoft.com/office/drawing/2014/main" id="{E0AB077B-653F-FC4E-B3EC-F76107FB5E3C}"/>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CCF490F3-1C4C-B029-45D6-2D53F93517B3}"/>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2385964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69DE1-D163-0836-A594-EB45AD029682}"/>
              </a:ext>
            </a:extLst>
          </p:cNvPr>
          <p:cNvSpPr>
            <a:spLocks noGrp="1"/>
          </p:cNvSpPr>
          <p:nvPr>
            <p:ph type="title"/>
          </p:nvPr>
        </p:nvSpPr>
        <p:spPr>
          <a:xfrm>
            <a:off x="839788" y="365125"/>
            <a:ext cx="10515600" cy="1325563"/>
          </a:xfrm>
        </p:spPr>
        <p:txBody>
          <a:bodyPr/>
          <a:lstStyle/>
          <a:p>
            <a:r>
              <a:rPr lang="en-US"/>
              <a:t>Click to edit Master title style</a:t>
            </a:r>
            <a:endParaRPr lang="en-SE"/>
          </a:p>
        </p:txBody>
      </p:sp>
      <p:sp>
        <p:nvSpPr>
          <p:cNvPr id="3" name="Text Placeholder 2">
            <a:extLst>
              <a:ext uri="{FF2B5EF4-FFF2-40B4-BE49-F238E27FC236}">
                <a16:creationId xmlns:a16="http://schemas.microsoft.com/office/drawing/2014/main" id="{496FD8CA-E0A8-49ED-E88E-4F4F3D6C08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B89376-E2CA-7592-A065-7BD395617B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5" name="Text Placeholder 4">
            <a:extLst>
              <a:ext uri="{FF2B5EF4-FFF2-40B4-BE49-F238E27FC236}">
                <a16:creationId xmlns:a16="http://schemas.microsoft.com/office/drawing/2014/main" id="{3A99F2B5-54D6-E266-80DC-3FC88847E1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C4DF21-E5C6-13B9-E412-82B1B1A207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7" name="Date Placeholder 6">
            <a:extLst>
              <a:ext uri="{FF2B5EF4-FFF2-40B4-BE49-F238E27FC236}">
                <a16:creationId xmlns:a16="http://schemas.microsoft.com/office/drawing/2014/main" id="{296171DE-A15F-3CEE-CDCE-CDEC4D63F54D}"/>
              </a:ext>
            </a:extLst>
          </p:cNvPr>
          <p:cNvSpPr>
            <a:spLocks noGrp="1"/>
          </p:cNvSpPr>
          <p:nvPr>
            <p:ph type="dt" sz="half" idx="10"/>
          </p:nvPr>
        </p:nvSpPr>
        <p:spPr/>
        <p:txBody>
          <a:bodyPr/>
          <a:lstStyle/>
          <a:p>
            <a:fld id="{79E73479-2AE1-4BA1-AEDB-E368E4EA3836}" type="datetimeFigureOut">
              <a:rPr lang="en-SE" smtClean="0"/>
              <a:t>2025-05-23</a:t>
            </a:fld>
            <a:endParaRPr lang="en-SE"/>
          </a:p>
        </p:txBody>
      </p:sp>
      <p:sp>
        <p:nvSpPr>
          <p:cNvPr id="8" name="Footer Placeholder 7">
            <a:extLst>
              <a:ext uri="{FF2B5EF4-FFF2-40B4-BE49-F238E27FC236}">
                <a16:creationId xmlns:a16="http://schemas.microsoft.com/office/drawing/2014/main" id="{DE7A84A5-290D-B677-5355-948534FF56B2}"/>
              </a:ext>
            </a:extLst>
          </p:cNvPr>
          <p:cNvSpPr>
            <a:spLocks noGrp="1"/>
          </p:cNvSpPr>
          <p:nvPr>
            <p:ph type="ftr" sz="quarter" idx="11"/>
          </p:nvPr>
        </p:nvSpPr>
        <p:spPr/>
        <p:txBody>
          <a:bodyPr/>
          <a:lstStyle/>
          <a:p>
            <a:endParaRPr lang="en-SE"/>
          </a:p>
        </p:txBody>
      </p:sp>
      <p:sp>
        <p:nvSpPr>
          <p:cNvPr id="9" name="Slide Number Placeholder 8">
            <a:extLst>
              <a:ext uri="{FF2B5EF4-FFF2-40B4-BE49-F238E27FC236}">
                <a16:creationId xmlns:a16="http://schemas.microsoft.com/office/drawing/2014/main" id="{86D326FA-23BF-EF6C-FA56-3F0E1C18DF13}"/>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664954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F9A51-2C60-C422-AC70-FB2AFB7DB40D}"/>
              </a:ext>
            </a:extLst>
          </p:cNvPr>
          <p:cNvSpPr>
            <a:spLocks noGrp="1"/>
          </p:cNvSpPr>
          <p:nvPr>
            <p:ph type="title"/>
          </p:nvPr>
        </p:nvSpPr>
        <p:spPr/>
        <p:txBody>
          <a:bodyPr/>
          <a:lstStyle/>
          <a:p>
            <a:r>
              <a:rPr lang="en-US"/>
              <a:t>Click to edit Master title style</a:t>
            </a:r>
            <a:endParaRPr lang="en-SE"/>
          </a:p>
        </p:txBody>
      </p:sp>
      <p:sp>
        <p:nvSpPr>
          <p:cNvPr id="3" name="Date Placeholder 2">
            <a:extLst>
              <a:ext uri="{FF2B5EF4-FFF2-40B4-BE49-F238E27FC236}">
                <a16:creationId xmlns:a16="http://schemas.microsoft.com/office/drawing/2014/main" id="{494C60DA-8106-73D5-14EA-57BAFA543656}"/>
              </a:ext>
            </a:extLst>
          </p:cNvPr>
          <p:cNvSpPr>
            <a:spLocks noGrp="1"/>
          </p:cNvSpPr>
          <p:nvPr>
            <p:ph type="dt" sz="half" idx="10"/>
          </p:nvPr>
        </p:nvSpPr>
        <p:spPr/>
        <p:txBody>
          <a:bodyPr/>
          <a:lstStyle/>
          <a:p>
            <a:fld id="{79E73479-2AE1-4BA1-AEDB-E368E4EA3836}" type="datetimeFigureOut">
              <a:rPr lang="en-SE" smtClean="0"/>
              <a:t>2025-05-23</a:t>
            </a:fld>
            <a:endParaRPr lang="en-SE"/>
          </a:p>
        </p:txBody>
      </p:sp>
      <p:sp>
        <p:nvSpPr>
          <p:cNvPr id="4" name="Footer Placeholder 3">
            <a:extLst>
              <a:ext uri="{FF2B5EF4-FFF2-40B4-BE49-F238E27FC236}">
                <a16:creationId xmlns:a16="http://schemas.microsoft.com/office/drawing/2014/main" id="{B98D40A5-6436-455C-8F8E-CDA0740DF1B7}"/>
              </a:ext>
            </a:extLst>
          </p:cNvPr>
          <p:cNvSpPr>
            <a:spLocks noGrp="1"/>
          </p:cNvSpPr>
          <p:nvPr>
            <p:ph type="ftr" sz="quarter" idx="11"/>
          </p:nvPr>
        </p:nvSpPr>
        <p:spPr/>
        <p:txBody>
          <a:bodyPr/>
          <a:lstStyle/>
          <a:p>
            <a:endParaRPr lang="en-SE"/>
          </a:p>
        </p:txBody>
      </p:sp>
      <p:sp>
        <p:nvSpPr>
          <p:cNvPr id="5" name="Slide Number Placeholder 4">
            <a:extLst>
              <a:ext uri="{FF2B5EF4-FFF2-40B4-BE49-F238E27FC236}">
                <a16:creationId xmlns:a16="http://schemas.microsoft.com/office/drawing/2014/main" id="{6FF56B26-5FC8-971D-6F31-9BADBA49B4B9}"/>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3906614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E6FD93-6CCC-2A58-3258-6549B2591054}"/>
              </a:ext>
            </a:extLst>
          </p:cNvPr>
          <p:cNvSpPr>
            <a:spLocks noGrp="1"/>
          </p:cNvSpPr>
          <p:nvPr>
            <p:ph type="dt" sz="half" idx="10"/>
          </p:nvPr>
        </p:nvSpPr>
        <p:spPr/>
        <p:txBody>
          <a:bodyPr/>
          <a:lstStyle/>
          <a:p>
            <a:fld id="{79E73479-2AE1-4BA1-AEDB-E368E4EA3836}" type="datetimeFigureOut">
              <a:rPr lang="en-SE" smtClean="0"/>
              <a:t>2025-05-23</a:t>
            </a:fld>
            <a:endParaRPr lang="en-SE"/>
          </a:p>
        </p:txBody>
      </p:sp>
      <p:sp>
        <p:nvSpPr>
          <p:cNvPr id="3" name="Footer Placeholder 2">
            <a:extLst>
              <a:ext uri="{FF2B5EF4-FFF2-40B4-BE49-F238E27FC236}">
                <a16:creationId xmlns:a16="http://schemas.microsoft.com/office/drawing/2014/main" id="{42A61BFF-DF74-E26B-A544-BEAC55755A11}"/>
              </a:ext>
            </a:extLst>
          </p:cNvPr>
          <p:cNvSpPr>
            <a:spLocks noGrp="1"/>
          </p:cNvSpPr>
          <p:nvPr>
            <p:ph type="ftr" sz="quarter" idx="11"/>
          </p:nvPr>
        </p:nvSpPr>
        <p:spPr/>
        <p:txBody>
          <a:bodyPr/>
          <a:lstStyle/>
          <a:p>
            <a:endParaRPr lang="en-SE"/>
          </a:p>
        </p:txBody>
      </p:sp>
      <p:sp>
        <p:nvSpPr>
          <p:cNvPr id="4" name="Slide Number Placeholder 3">
            <a:extLst>
              <a:ext uri="{FF2B5EF4-FFF2-40B4-BE49-F238E27FC236}">
                <a16:creationId xmlns:a16="http://schemas.microsoft.com/office/drawing/2014/main" id="{8AC506B6-0BC1-AF6F-B0F2-2F833012243B}"/>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1611322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22514-0E0D-5EBD-3D48-3FC0E34ED4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E"/>
          </a:p>
        </p:txBody>
      </p:sp>
      <p:sp>
        <p:nvSpPr>
          <p:cNvPr id="3" name="Content Placeholder 2">
            <a:extLst>
              <a:ext uri="{FF2B5EF4-FFF2-40B4-BE49-F238E27FC236}">
                <a16:creationId xmlns:a16="http://schemas.microsoft.com/office/drawing/2014/main" id="{45F07C9F-B3B9-95B3-390F-7E659829F0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Text Placeholder 3">
            <a:extLst>
              <a:ext uri="{FF2B5EF4-FFF2-40B4-BE49-F238E27FC236}">
                <a16:creationId xmlns:a16="http://schemas.microsoft.com/office/drawing/2014/main" id="{555E8EB9-CE02-A011-11B9-2A71CB9CB0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B969AA-719F-B643-5A77-189C8B4A68BF}"/>
              </a:ext>
            </a:extLst>
          </p:cNvPr>
          <p:cNvSpPr>
            <a:spLocks noGrp="1"/>
          </p:cNvSpPr>
          <p:nvPr>
            <p:ph type="dt" sz="half" idx="10"/>
          </p:nvPr>
        </p:nvSpPr>
        <p:spPr/>
        <p:txBody>
          <a:bodyPr/>
          <a:lstStyle/>
          <a:p>
            <a:fld id="{79E73479-2AE1-4BA1-AEDB-E368E4EA3836}" type="datetimeFigureOut">
              <a:rPr lang="en-SE" smtClean="0"/>
              <a:t>2025-05-23</a:t>
            </a:fld>
            <a:endParaRPr lang="en-SE"/>
          </a:p>
        </p:txBody>
      </p:sp>
      <p:sp>
        <p:nvSpPr>
          <p:cNvPr id="6" name="Footer Placeholder 5">
            <a:extLst>
              <a:ext uri="{FF2B5EF4-FFF2-40B4-BE49-F238E27FC236}">
                <a16:creationId xmlns:a16="http://schemas.microsoft.com/office/drawing/2014/main" id="{8087F234-DC51-1DBC-7B26-BB6C91363118}"/>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80F7B19C-E299-EF7B-7D98-64BC37CF8379}"/>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1031980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9FBC9-B993-1E0E-4905-F63C7CB17B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E"/>
          </a:p>
        </p:txBody>
      </p:sp>
      <p:sp>
        <p:nvSpPr>
          <p:cNvPr id="3" name="Picture Placeholder 2">
            <a:extLst>
              <a:ext uri="{FF2B5EF4-FFF2-40B4-BE49-F238E27FC236}">
                <a16:creationId xmlns:a16="http://schemas.microsoft.com/office/drawing/2014/main" id="{EA23D4FC-5293-8BE0-4EE9-B9899A9ED8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E"/>
          </a:p>
        </p:txBody>
      </p:sp>
      <p:sp>
        <p:nvSpPr>
          <p:cNvPr id="4" name="Text Placeholder 3">
            <a:extLst>
              <a:ext uri="{FF2B5EF4-FFF2-40B4-BE49-F238E27FC236}">
                <a16:creationId xmlns:a16="http://schemas.microsoft.com/office/drawing/2014/main" id="{129B001D-B3E8-1877-F20E-8C257E8BB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973C8-1641-1490-D6C7-BEEB1F24EE99}"/>
              </a:ext>
            </a:extLst>
          </p:cNvPr>
          <p:cNvSpPr>
            <a:spLocks noGrp="1"/>
          </p:cNvSpPr>
          <p:nvPr>
            <p:ph type="dt" sz="half" idx="10"/>
          </p:nvPr>
        </p:nvSpPr>
        <p:spPr/>
        <p:txBody>
          <a:bodyPr/>
          <a:lstStyle/>
          <a:p>
            <a:fld id="{79E73479-2AE1-4BA1-AEDB-E368E4EA3836}" type="datetimeFigureOut">
              <a:rPr lang="en-SE" smtClean="0"/>
              <a:t>2025-05-23</a:t>
            </a:fld>
            <a:endParaRPr lang="en-SE"/>
          </a:p>
        </p:txBody>
      </p:sp>
      <p:sp>
        <p:nvSpPr>
          <p:cNvPr id="6" name="Footer Placeholder 5">
            <a:extLst>
              <a:ext uri="{FF2B5EF4-FFF2-40B4-BE49-F238E27FC236}">
                <a16:creationId xmlns:a16="http://schemas.microsoft.com/office/drawing/2014/main" id="{CBDD4E76-0ED5-4281-EF04-6CD105CDF211}"/>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17F85D46-A8FD-6A88-FABE-19B8C922FC32}"/>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1523109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CE230-3040-1D0A-D696-B264DEEE6FC7}"/>
              </a:ext>
            </a:extLst>
          </p:cNvPr>
          <p:cNvSpPr>
            <a:spLocks noGrp="1"/>
          </p:cNvSpPr>
          <p:nvPr>
            <p:ph type="title"/>
          </p:nvPr>
        </p:nvSpPr>
        <p:spPr/>
        <p:txBody>
          <a:bodyPr/>
          <a:lstStyle/>
          <a:p>
            <a:r>
              <a:rPr lang="en-US"/>
              <a:t>Click to edit Master title style</a:t>
            </a:r>
            <a:endParaRPr lang="en-SE"/>
          </a:p>
        </p:txBody>
      </p:sp>
      <p:sp>
        <p:nvSpPr>
          <p:cNvPr id="3" name="Vertical Text Placeholder 2">
            <a:extLst>
              <a:ext uri="{FF2B5EF4-FFF2-40B4-BE49-F238E27FC236}">
                <a16:creationId xmlns:a16="http://schemas.microsoft.com/office/drawing/2014/main" id="{0D364236-B336-408F-FB6F-46CA90CE44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16CBD7B3-DEB0-67C0-C6D4-2FBE4CD7E53F}"/>
              </a:ext>
            </a:extLst>
          </p:cNvPr>
          <p:cNvSpPr>
            <a:spLocks noGrp="1"/>
          </p:cNvSpPr>
          <p:nvPr>
            <p:ph type="dt" sz="half" idx="10"/>
          </p:nvPr>
        </p:nvSpPr>
        <p:spPr/>
        <p:txBody>
          <a:bodyPr/>
          <a:lstStyle/>
          <a:p>
            <a:fld id="{79E73479-2AE1-4BA1-AEDB-E368E4EA3836}" type="datetimeFigureOut">
              <a:rPr lang="en-SE" smtClean="0"/>
              <a:t>2025-05-23</a:t>
            </a:fld>
            <a:endParaRPr lang="en-SE"/>
          </a:p>
        </p:txBody>
      </p:sp>
      <p:sp>
        <p:nvSpPr>
          <p:cNvPr id="5" name="Footer Placeholder 4">
            <a:extLst>
              <a:ext uri="{FF2B5EF4-FFF2-40B4-BE49-F238E27FC236}">
                <a16:creationId xmlns:a16="http://schemas.microsoft.com/office/drawing/2014/main" id="{9779C34B-C06A-EAF1-582E-DA77348354D5}"/>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73643D66-0172-9C58-6B03-BA86030711D9}"/>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2539671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0FDF29-DD3C-E95F-BEDA-E1BD0CFD4E5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E"/>
          </a:p>
        </p:txBody>
      </p:sp>
      <p:sp>
        <p:nvSpPr>
          <p:cNvPr id="3" name="Vertical Text Placeholder 2">
            <a:extLst>
              <a:ext uri="{FF2B5EF4-FFF2-40B4-BE49-F238E27FC236}">
                <a16:creationId xmlns:a16="http://schemas.microsoft.com/office/drawing/2014/main" id="{269C14B2-F478-550E-80FD-AA75DE7CB6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A915EA59-84F9-CF6F-560B-D950410A8300}"/>
              </a:ext>
            </a:extLst>
          </p:cNvPr>
          <p:cNvSpPr>
            <a:spLocks noGrp="1"/>
          </p:cNvSpPr>
          <p:nvPr>
            <p:ph type="dt" sz="half" idx="10"/>
          </p:nvPr>
        </p:nvSpPr>
        <p:spPr/>
        <p:txBody>
          <a:bodyPr/>
          <a:lstStyle/>
          <a:p>
            <a:fld id="{79E73479-2AE1-4BA1-AEDB-E368E4EA3836}" type="datetimeFigureOut">
              <a:rPr lang="en-SE" smtClean="0"/>
              <a:t>2025-05-23</a:t>
            </a:fld>
            <a:endParaRPr lang="en-SE"/>
          </a:p>
        </p:txBody>
      </p:sp>
      <p:sp>
        <p:nvSpPr>
          <p:cNvPr id="5" name="Footer Placeholder 4">
            <a:extLst>
              <a:ext uri="{FF2B5EF4-FFF2-40B4-BE49-F238E27FC236}">
                <a16:creationId xmlns:a16="http://schemas.microsoft.com/office/drawing/2014/main" id="{D9E33484-7ADE-5D31-06F2-155158C55366}"/>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2022A65B-135E-C1F4-E9BF-6CC85B953D4D}"/>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426739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2EC82F-9E1C-E3BA-0309-8B01E88BDB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E"/>
          </a:p>
        </p:txBody>
      </p:sp>
      <p:sp>
        <p:nvSpPr>
          <p:cNvPr id="3" name="Text Placeholder 2">
            <a:extLst>
              <a:ext uri="{FF2B5EF4-FFF2-40B4-BE49-F238E27FC236}">
                <a16:creationId xmlns:a16="http://schemas.microsoft.com/office/drawing/2014/main" id="{1556170A-7229-BD83-28D8-53A382E7A4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5D3D7DA7-8407-D49D-54E0-061285D5DC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E73479-2AE1-4BA1-AEDB-E368E4EA3836}" type="datetimeFigureOut">
              <a:rPr lang="en-SE" smtClean="0"/>
              <a:t>2025-05-23</a:t>
            </a:fld>
            <a:endParaRPr lang="en-SE"/>
          </a:p>
        </p:txBody>
      </p:sp>
      <p:sp>
        <p:nvSpPr>
          <p:cNvPr id="5" name="Footer Placeholder 4">
            <a:extLst>
              <a:ext uri="{FF2B5EF4-FFF2-40B4-BE49-F238E27FC236}">
                <a16:creationId xmlns:a16="http://schemas.microsoft.com/office/drawing/2014/main" id="{D00772BC-3DD5-FC0A-3286-7B2BB460DA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Slide Number Placeholder 5">
            <a:extLst>
              <a:ext uri="{FF2B5EF4-FFF2-40B4-BE49-F238E27FC236}">
                <a16:creationId xmlns:a16="http://schemas.microsoft.com/office/drawing/2014/main" id="{9DA08462-B0FC-76E9-0D79-5B5E2B67CF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15F48B-9AFF-4610-9000-3BAB15D0F4EF}" type="slidenum">
              <a:rPr lang="en-SE" smtClean="0"/>
              <a:t>‹#›</a:t>
            </a:fld>
            <a:endParaRPr lang="en-SE"/>
          </a:p>
        </p:txBody>
      </p:sp>
    </p:spTree>
    <p:extLst>
      <p:ext uri="{BB962C8B-B14F-4D97-AF65-F5344CB8AC3E}">
        <p14:creationId xmlns:p14="http://schemas.microsoft.com/office/powerpoint/2010/main" val="214103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descr="A close-up of a graph&#10;&#10;AI-generated content may be incorrect.">
            <a:extLst>
              <a:ext uri="{FF2B5EF4-FFF2-40B4-BE49-F238E27FC236}">
                <a16:creationId xmlns:a16="http://schemas.microsoft.com/office/drawing/2014/main" id="{1DB02AAF-2227-5503-E28A-2303E233FD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197" y="316570"/>
            <a:ext cx="9648784" cy="6120000"/>
          </a:xfrm>
          <a:prstGeom prst="rect">
            <a:avLst/>
          </a:prstGeom>
        </p:spPr>
      </p:pic>
      <p:sp>
        <p:nvSpPr>
          <p:cNvPr id="8" name="TextBox 7">
            <a:extLst>
              <a:ext uri="{FF2B5EF4-FFF2-40B4-BE49-F238E27FC236}">
                <a16:creationId xmlns:a16="http://schemas.microsoft.com/office/drawing/2014/main" id="{695F6C74-88D6-FCB2-F999-82B8917C67CF}"/>
              </a:ext>
            </a:extLst>
          </p:cNvPr>
          <p:cNvSpPr txBox="1"/>
          <p:nvPr/>
        </p:nvSpPr>
        <p:spPr>
          <a:xfrm>
            <a:off x="4870992" y="316570"/>
            <a:ext cx="1001948" cy="369332"/>
          </a:xfrm>
          <a:prstGeom prst="rect">
            <a:avLst/>
          </a:prstGeom>
          <a:noFill/>
        </p:spPr>
        <p:txBody>
          <a:bodyPr wrap="square" rtlCol="0">
            <a:spAutoFit/>
          </a:bodyPr>
          <a:lstStyle/>
          <a:p>
            <a:r>
              <a:rPr lang="en-GB" dirty="0"/>
              <a:t>A</a:t>
            </a:r>
            <a:endParaRPr lang="en-SE" dirty="0"/>
          </a:p>
        </p:txBody>
      </p:sp>
      <p:sp>
        <p:nvSpPr>
          <p:cNvPr id="11" name="TextBox 10">
            <a:extLst>
              <a:ext uri="{FF2B5EF4-FFF2-40B4-BE49-F238E27FC236}">
                <a16:creationId xmlns:a16="http://schemas.microsoft.com/office/drawing/2014/main" id="{45500F7F-3076-09D2-79B0-E94F32A140ED}"/>
              </a:ext>
            </a:extLst>
          </p:cNvPr>
          <p:cNvSpPr txBox="1"/>
          <p:nvPr/>
        </p:nvSpPr>
        <p:spPr>
          <a:xfrm>
            <a:off x="6781156" y="696508"/>
            <a:ext cx="1001948" cy="369332"/>
          </a:xfrm>
          <a:prstGeom prst="rect">
            <a:avLst/>
          </a:prstGeom>
          <a:noFill/>
        </p:spPr>
        <p:txBody>
          <a:bodyPr wrap="square" rtlCol="0">
            <a:spAutoFit/>
          </a:bodyPr>
          <a:lstStyle/>
          <a:p>
            <a:r>
              <a:rPr lang="en-GB" dirty="0"/>
              <a:t>B</a:t>
            </a:r>
            <a:endParaRPr lang="en-SE" dirty="0"/>
          </a:p>
        </p:txBody>
      </p:sp>
    </p:spTree>
    <p:extLst>
      <p:ext uri="{BB962C8B-B14F-4D97-AF65-F5344CB8AC3E}">
        <p14:creationId xmlns:p14="http://schemas.microsoft.com/office/powerpoint/2010/main" val="1539761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screenshot of a graph&#10;&#10;AI-generated content may be incorrect.">
            <a:extLst>
              <a:ext uri="{FF2B5EF4-FFF2-40B4-BE49-F238E27FC236}">
                <a16:creationId xmlns:a16="http://schemas.microsoft.com/office/drawing/2014/main" id="{C3999CA7-2635-526E-3C9C-743A9E9923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3411" y="0"/>
            <a:ext cx="10017907" cy="6120000"/>
          </a:xfrm>
          <a:prstGeom prst="rect">
            <a:avLst/>
          </a:prstGeom>
        </p:spPr>
      </p:pic>
      <p:sp>
        <p:nvSpPr>
          <p:cNvPr id="13" name="TextBox 12">
            <a:extLst>
              <a:ext uri="{FF2B5EF4-FFF2-40B4-BE49-F238E27FC236}">
                <a16:creationId xmlns:a16="http://schemas.microsoft.com/office/drawing/2014/main" id="{631E83DC-19E3-C69B-4077-CBCBBD7E165A}"/>
              </a:ext>
            </a:extLst>
          </p:cNvPr>
          <p:cNvSpPr txBox="1"/>
          <p:nvPr/>
        </p:nvSpPr>
        <p:spPr>
          <a:xfrm>
            <a:off x="85724" y="6120000"/>
            <a:ext cx="12106275" cy="646331"/>
          </a:xfrm>
          <a:prstGeom prst="rect">
            <a:avLst/>
          </a:prstGeom>
          <a:noFill/>
        </p:spPr>
        <p:txBody>
          <a:bodyPr wrap="square">
            <a:spAutoFit/>
          </a:bodyPr>
          <a:lstStyle/>
          <a:p>
            <a:r>
              <a:rPr lang="en-GB" sz="1200" dirty="0">
                <a:effectLst/>
                <a:latin typeface="Aptos" panose="020B0004020202020204" pitchFamily="34" charset="0"/>
                <a:ea typeface="Times New Roman" panose="02020603050405020304" pitchFamily="18" charset="0"/>
                <a:cs typeface="Times New Roman" panose="02020603050405020304" pitchFamily="18" charset="0"/>
              </a:rPr>
              <a:t>Figure 1 -Most frequent terms from the SARS-CoV-2 virus and COVID-19 disease dictionaries in abstracts from the CORD-19 dataset. All text was changed to lowercase and hyphens were removed prior to detecting terms using </a:t>
            </a:r>
            <a:r>
              <a:rPr lang="en-GB" sz="1200" dirty="0" err="1">
                <a:effectLst/>
                <a:latin typeface="Aptos" panose="020B0004020202020204" pitchFamily="34" charset="0"/>
                <a:ea typeface="Times New Roman" panose="02020603050405020304" pitchFamily="18" charset="0"/>
                <a:cs typeface="Times New Roman" panose="02020603050405020304" pitchFamily="18" charset="0"/>
              </a:rPr>
              <a:t>EasyNER</a:t>
            </a:r>
            <a:r>
              <a:rPr lang="en-GB" sz="1200" dirty="0">
                <a:effectLst/>
                <a:latin typeface="Aptos" panose="020B0004020202020204" pitchFamily="34" charset="0"/>
                <a:ea typeface="Times New Roman" panose="02020603050405020304" pitchFamily="18" charset="0"/>
                <a:cs typeface="Times New Roman" panose="02020603050405020304" pitchFamily="18" charset="0"/>
              </a:rPr>
              <a:t>, resulting in grouping of all terms that differ only in these aspects. A) Counts for 50 most frequent virus terms. B) Counts for disease terms. Full results, including all terms with total and per document counts</a:t>
            </a:r>
            <a:r>
              <a:rPr lang="en-GB" sz="1200" dirty="0">
                <a:latin typeface="Aptos" panose="020B0004020202020204" pitchFamily="34" charset="0"/>
                <a:ea typeface="Times New Roman" panose="02020603050405020304" pitchFamily="18" charset="0"/>
                <a:cs typeface="Times New Roman" panose="02020603050405020304" pitchFamily="18" charset="0"/>
              </a:rPr>
              <a:t>.</a:t>
            </a:r>
            <a:endParaRPr lang="en-SE" sz="1200" dirty="0"/>
          </a:p>
        </p:txBody>
      </p:sp>
      <p:sp>
        <p:nvSpPr>
          <p:cNvPr id="2" name="TextBox 1">
            <a:extLst>
              <a:ext uri="{FF2B5EF4-FFF2-40B4-BE49-F238E27FC236}">
                <a16:creationId xmlns:a16="http://schemas.microsoft.com/office/drawing/2014/main" id="{480F75D8-B1A9-C40C-C9ED-F0003199D4B7}"/>
              </a:ext>
            </a:extLst>
          </p:cNvPr>
          <p:cNvSpPr txBox="1"/>
          <p:nvPr/>
        </p:nvSpPr>
        <p:spPr>
          <a:xfrm>
            <a:off x="5004342" y="0"/>
            <a:ext cx="1001948" cy="369332"/>
          </a:xfrm>
          <a:prstGeom prst="rect">
            <a:avLst/>
          </a:prstGeom>
          <a:noFill/>
        </p:spPr>
        <p:txBody>
          <a:bodyPr wrap="square" rtlCol="0">
            <a:spAutoFit/>
          </a:bodyPr>
          <a:lstStyle/>
          <a:p>
            <a:r>
              <a:rPr lang="en-GB" dirty="0"/>
              <a:t>B</a:t>
            </a:r>
            <a:endParaRPr lang="en-SE" dirty="0"/>
          </a:p>
        </p:txBody>
      </p:sp>
    </p:spTree>
    <p:extLst>
      <p:ext uri="{BB962C8B-B14F-4D97-AF65-F5344CB8AC3E}">
        <p14:creationId xmlns:p14="http://schemas.microsoft.com/office/powerpoint/2010/main" val="3927281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E4262B-3D58-B185-3445-8FBCB24CE8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9867" y="0"/>
            <a:ext cx="7412265" cy="6858000"/>
          </a:xfrm>
          <a:prstGeom prst="rect">
            <a:avLst/>
          </a:prstGeom>
        </p:spPr>
      </p:pic>
      <p:sp>
        <p:nvSpPr>
          <p:cNvPr id="8" name="TextBox 7">
            <a:extLst>
              <a:ext uri="{FF2B5EF4-FFF2-40B4-BE49-F238E27FC236}">
                <a16:creationId xmlns:a16="http://schemas.microsoft.com/office/drawing/2014/main" id="{8EAC699A-8E61-6979-D0EC-3A9C722D54E5}"/>
              </a:ext>
            </a:extLst>
          </p:cNvPr>
          <p:cNvSpPr txBox="1"/>
          <p:nvPr/>
        </p:nvSpPr>
        <p:spPr>
          <a:xfrm>
            <a:off x="3064213" y="0"/>
            <a:ext cx="379379" cy="369332"/>
          </a:xfrm>
          <a:prstGeom prst="rect">
            <a:avLst/>
          </a:prstGeom>
          <a:noFill/>
        </p:spPr>
        <p:txBody>
          <a:bodyPr wrap="square" rtlCol="0">
            <a:spAutoFit/>
          </a:bodyPr>
          <a:lstStyle/>
          <a:p>
            <a:r>
              <a:rPr lang="en-GB" dirty="0"/>
              <a:t>A</a:t>
            </a:r>
            <a:endParaRPr lang="en-SE" dirty="0"/>
          </a:p>
        </p:txBody>
      </p:sp>
    </p:spTree>
    <p:extLst>
      <p:ext uri="{BB962C8B-B14F-4D97-AF65-F5344CB8AC3E}">
        <p14:creationId xmlns:p14="http://schemas.microsoft.com/office/powerpoint/2010/main" val="1936269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5DEB8-EBB3-99F6-36D4-72E7DF18DC66}"/>
            </a:ext>
          </a:extLst>
        </p:cNvPr>
        <p:cNvGrpSpPr/>
        <p:nvPr/>
      </p:nvGrpSpPr>
      <p:grpSpPr>
        <a:xfrm>
          <a:off x="0" y="0"/>
          <a:ext cx="0" cy="0"/>
          <a:chOff x="0" y="0"/>
          <a:chExt cx="0" cy="0"/>
        </a:xfrm>
      </p:grpSpPr>
      <p:pic>
        <p:nvPicPr>
          <p:cNvPr id="7" name="Picture 6" descr="A chart of a number of numbers&#10;&#10;AI-generated content may be incorrect.">
            <a:extLst>
              <a:ext uri="{FF2B5EF4-FFF2-40B4-BE49-F238E27FC236}">
                <a16:creationId xmlns:a16="http://schemas.microsoft.com/office/drawing/2014/main" id="{B5951F43-83CB-4576-DEC3-90989EF3D6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0282" y="-2070"/>
            <a:ext cx="6891422" cy="6071202"/>
          </a:xfrm>
          <a:prstGeom prst="rect">
            <a:avLst/>
          </a:prstGeom>
        </p:spPr>
      </p:pic>
      <p:sp>
        <p:nvSpPr>
          <p:cNvPr id="9" name="TextBox 8">
            <a:extLst>
              <a:ext uri="{FF2B5EF4-FFF2-40B4-BE49-F238E27FC236}">
                <a16:creationId xmlns:a16="http://schemas.microsoft.com/office/drawing/2014/main" id="{EBBB860B-5F02-7566-7210-AF114BEBA93F}"/>
              </a:ext>
            </a:extLst>
          </p:cNvPr>
          <p:cNvSpPr txBox="1"/>
          <p:nvPr/>
        </p:nvSpPr>
        <p:spPr>
          <a:xfrm>
            <a:off x="3463654" y="0"/>
            <a:ext cx="379379" cy="369332"/>
          </a:xfrm>
          <a:prstGeom prst="rect">
            <a:avLst/>
          </a:prstGeom>
          <a:noFill/>
        </p:spPr>
        <p:txBody>
          <a:bodyPr wrap="square" rtlCol="0">
            <a:spAutoFit/>
          </a:bodyPr>
          <a:lstStyle/>
          <a:p>
            <a:r>
              <a:rPr lang="en-GB" dirty="0"/>
              <a:t>B</a:t>
            </a:r>
            <a:endParaRPr lang="en-SE" dirty="0"/>
          </a:p>
        </p:txBody>
      </p:sp>
      <p:sp>
        <p:nvSpPr>
          <p:cNvPr id="11" name="TextBox 10">
            <a:extLst>
              <a:ext uri="{FF2B5EF4-FFF2-40B4-BE49-F238E27FC236}">
                <a16:creationId xmlns:a16="http://schemas.microsoft.com/office/drawing/2014/main" id="{3B264BD7-5AF0-445B-EA4A-8DC51E9409F9}"/>
              </a:ext>
            </a:extLst>
          </p:cNvPr>
          <p:cNvSpPr txBox="1"/>
          <p:nvPr/>
        </p:nvSpPr>
        <p:spPr>
          <a:xfrm>
            <a:off x="261126" y="6069132"/>
            <a:ext cx="12049125" cy="646331"/>
          </a:xfrm>
          <a:prstGeom prst="rect">
            <a:avLst/>
          </a:prstGeom>
          <a:noFill/>
        </p:spPr>
        <p:txBody>
          <a:bodyPr wrap="square">
            <a:spAutoFit/>
          </a:bodyPr>
          <a:lstStyle/>
          <a:p>
            <a:r>
              <a:rPr lang="en-GB" sz="1200" dirty="0">
                <a:effectLst/>
                <a:latin typeface="Aptos" panose="020B0004020202020204" pitchFamily="34" charset="0"/>
                <a:ea typeface="Times New Roman" panose="02020603050405020304" pitchFamily="18" charset="0"/>
                <a:cs typeface="Times New Roman" panose="02020603050405020304" pitchFamily="18" charset="0"/>
              </a:rPr>
              <a:t>Figure 2- Most frequent terms from the SARS-CoV-2 variant dictionary in abstracts from the CORD-19 dataset. All text was changed to lowercase and hyphens were removed prior to detecting terms using </a:t>
            </a:r>
            <a:r>
              <a:rPr lang="en-GB" sz="1200" dirty="0" err="1">
                <a:effectLst/>
                <a:latin typeface="Aptos" panose="020B0004020202020204" pitchFamily="34" charset="0"/>
                <a:ea typeface="Times New Roman" panose="02020603050405020304" pitchFamily="18" charset="0"/>
                <a:cs typeface="Times New Roman" panose="02020603050405020304" pitchFamily="18" charset="0"/>
              </a:rPr>
              <a:t>EasyNER</a:t>
            </a:r>
            <a:r>
              <a:rPr lang="en-GB" sz="1200" dirty="0">
                <a:effectLst/>
                <a:latin typeface="Aptos" panose="020B0004020202020204" pitchFamily="34" charset="0"/>
                <a:ea typeface="Times New Roman" panose="02020603050405020304" pitchFamily="18" charset="0"/>
                <a:cs typeface="Times New Roman" panose="02020603050405020304" pitchFamily="18" charset="0"/>
              </a:rPr>
              <a:t>, resulting in grouping of all terms that differ only in these aspects. A) Counts for the full dictionary. B) Counts after removal of terms with less than 3 characters. Full results, including all terms with total and per document counts</a:t>
            </a:r>
            <a:r>
              <a:rPr lang="en-GB" sz="1200" dirty="0">
                <a:latin typeface="Aptos" panose="020B0004020202020204" pitchFamily="34" charset="0"/>
                <a:ea typeface="Times New Roman" panose="02020603050405020304" pitchFamily="18" charset="0"/>
                <a:cs typeface="Times New Roman" panose="02020603050405020304" pitchFamily="18" charset="0"/>
              </a:rPr>
              <a:t>.</a:t>
            </a:r>
            <a:endParaRPr lang="en-SE" sz="1200" dirty="0"/>
          </a:p>
        </p:txBody>
      </p:sp>
    </p:spTree>
    <p:extLst>
      <p:ext uri="{BB962C8B-B14F-4D97-AF65-F5344CB8AC3E}">
        <p14:creationId xmlns:p14="http://schemas.microsoft.com/office/powerpoint/2010/main" val="342698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25B068-1D7A-E42C-478D-2A2B64D9CA0B}"/>
              </a:ext>
            </a:extLst>
          </p:cNvPr>
          <p:cNvSpPr txBox="1"/>
          <p:nvPr/>
        </p:nvSpPr>
        <p:spPr>
          <a:xfrm>
            <a:off x="123014" y="6290013"/>
            <a:ext cx="12068986" cy="646331"/>
          </a:xfrm>
          <a:prstGeom prst="rect">
            <a:avLst/>
          </a:prstGeom>
          <a:noFill/>
        </p:spPr>
        <p:txBody>
          <a:bodyPr wrap="square">
            <a:spAutoFit/>
          </a:bodyPr>
          <a:lstStyle/>
          <a:p>
            <a:r>
              <a:rPr lang="en-US" sz="1200" b="0" i="0" dirty="0">
                <a:solidFill>
                  <a:srgbClr val="000000"/>
                </a:solidFill>
                <a:effectLst/>
                <a:latin typeface="Aptos" panose="020B0004020202020204" pitchFamily="34" charset="0"/>
              </a:rPr>
              <a:t>Figure 3. Most frequent terms from the SARS-CoV-2 mutation dictionary in abstracts from the CORD-19 dataset. All text was changed to lowercase and hyphens were removed prior to detecting terms using </a:t>
            </a:r>
            <a:r>
              <a:rPr lang="en-US" sz="1200" b="0" i="0" dirty="0" err="1">
                <a:solidFill>
                  <a:srgbClr val="000000"/>
                </a:solidFill>
                <a:effectLst/>
                <a:latin typeface="Aptos" panose="020B0004020202020204" pitchFamily="34" charset="0"/>
              </a:rPr>
              <a:t>EasyNER</a:t>
            </a:r>
            <a:r>
              <a:rPr lang="en-US" sz="1200" b="0" i="0" dirty="0">
                <a:solidFill>
                  <a:srgbClr val="000000"/>
                </a:solidFill>
                <a:effectLst/>
                <a:latin typeface="Aptos" panose="020B0004020202020204" pitchFamily="34" charset="0"/>
              </a:rPr>
              <a:t>, resulting in grouping of all terms that differ only in these aspects. Full results, including all terms with total and per document counts, in Supplemental file 10</a:t>
            </a:r>
            <a:endParaRPr lang="en-SE" sz="1200" dirty="0"/>
          </a:p>
        </p:txBody>
      </p:sp>
      <p:pic>
        <p:nvPicPr>
          <p:cNvPr id="7" name="Picture 6" descr="A graph of a number of people&#10;&#10;AI-generated content may be incorrect.">
            <a:extLst>
              <a:ext uri="{FF2B5EF4-FFF2-40B4-BE49-F238E27FC236}">
                <a16:creationId xmlns:a16="http://schemas.microsoft.com/office/drawing/2014/main" id="{89C4A555-ECCC-C30E-1359-ED9D441314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6058" y="0"/>
            <a:ext cx="6496496" cy="6120000"/>
          </a:xfrm>
          <a:prstGeom prst="rect">
            <a:avLst/>
          </a:prstGeom>
        </p:spPr>
      </p:pic>
    </p:spTree>
    <p:extLst>
      <p:ext uri="{BB962C8B-B14F-4D97-AF65-F5344CB8AC3E}">
        <p14:creationId xmlns:p14="http://schemas.microsoft.com/office/powerpoint/2010/main" val="2415127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1384</TotalTime>
  <Words>235</Words>
  <Application>Microsoft Office PowerPoint</Application>
  <PresentationFormat>Widescreen</PresentationFormat>
  <Paragraphs>11</Paragraphs>
  <Slides>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Salma Kazemi Rashed</dc:creator>
  <cp:lastModifiedBy>Salma Kazemi Rashed</cp:lastModifiedBy>
  <cp:revision>5</cp:revision>
  <dcterms:created xsi:type="dcterms:W3CDTF">2025-05-20T08:42:38Z</dcterms:created>
  <dcterms:modified xsi:type="dcterms:W3CDTF">2025-05-23T10:46:03Z</dcterms:modified>
</cp:coreProperties>
</file>